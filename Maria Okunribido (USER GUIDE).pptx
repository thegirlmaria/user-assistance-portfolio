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8" autoAdjust="0"/>
    <p:restoredTop sz="94660"/>
  </p:normalViewPr>
  <p:slideViewPr>
    <p:cSldViewPr snapToGrid="0">
      <p:cViewPr varScale="1">
        <p:scale>
          <a:sx n="80" d="100"/>
          <a:sy n="80" d="100"/>
        </p:scale>
        <p:origin x="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smtClean="0"/>
              <a:t>10/11/2021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7592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smtClean="0"/>
              <a:t>10/11/2021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29083984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10/11/2021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1610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smtClean="0"/>
              <a:t>10/11/2021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69494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smtClean="0"/>
              <a:t>10/11/2021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6629440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10/11/2021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236311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smtClean="0"/>
              <a:t>10/11/2021</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719250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smtClean="0"/>
              <a:t>10/11/2021</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412669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10/11/2021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4638045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smtClean="0"/>
              <a:t>10/11/2021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560789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smtClean="0"/>
              <a:t>10/11/2021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423109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smtClean="0"/>
              <a:t>10/11/2021</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537282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Layout" Target="../slideLayouts/slideLayout8.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8.xml"/><Relationship Id="rId4" Type="http://schemas.openxmlformats.org/officeDocument/2006/relationships/hyperlink" Target="http://www.samsung.com/hk"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2000"/>
            <a:lum/>
          </a:blip>
          <a:srcRect/>
          <a:stretch>
            <a:fillRect l="-1000" r="-1000"/>
          </a:stretch>
        </a:blipFill>
        <a:effectLst/>
      </p:bgPr>
    </p:bg>
    <p:spTree>
      <p:nvGrpSpPr>
        <p:cNvPr id="1" name=""/>
        <p:cNvGrpSpPr/>
        <p:nvPr/>
      </p:nvGrpSpPr>
      <p:grpSpPr>
        <a:xfrm>
          <a:off x="0" y="0"/>
          <a:ext cx="0" cy="0"/>
          <a:chOff x="0" y="0"/>
          <a:chExt cx="0" cy="0"/>
        </a:xfrm>
      </p:grpSpPr>
      <p:sp useBgFill="1">
        <p:nvSpPr>
          <p:cNvPr id="2" name="Title 1"/>
          <p:cNvSpPr>
            <a:spLocks noGrp="1"/>
          </p:cNvSpPr>
          <p:nvPr>
            <p:ph type="ctrTitle"/>
          </p:nvPr>
        </p:nvSpPr>
        <p:spPr>
          <a:xfrm>
            <a:off x="5318760" y="0"/>
            <a:ext cx="5486400" cy="2225040"/>
          </a:xfrm>
        </p:spPr>
        <p:txBody>
          <a:bodyPr/>
          <a:lstStyle/>
          <a:p>
            <a:r>
              <a:rPr lang="en-US" b="1" dirty="0" smtClean="0"/>
              <a:t>USER GUIDE</a:t>
            </a:r>
            <a:endParaRPr lang="en-US" b="1" dirty="0"/>
          </a:p>
        </p:txBody>
      </p:sp>
      <p:sp>
        <p:nvSpPr>
          <p:cNvPr id="3" name="Subtitle 2"/>
          <p:cNvSpPr>
            <a:spLocks noGrp="1"/>
          </p:cNvSpPr>
          <p:nvPr>
            <p:ph type="subTitle" idx="1"/>
          </p:nvPr>
        </p:nvSpPr>
        <p:spPr>
          <a:xfrm>
            <a:off x="9006839" y="4455620"/>
            <a:ext cx="2151611" cy="1143000"/>
          </a:xfrm>
        </p:spPr>
        <p:txBody>
          <a:bodyPr>
            <a:normAutofit/>
          </a:bodyPr>
          <a:lstStyle/>
          <a:p>
            <a:r>
              <a:rPr lang="en-US" sz="2800" dirty="0" smtClean="0">
                <a:latin typeface="Bahnschrift" panose="020B0502040204020203" pitchFamily="34" charset="0"/>
              </a:rPr>
              <a:t>SM-N9600</a:t>
            </a:r>
            <a:endParaRPr lang="en-US" sz="2800" dirty="0">
              <a:latin typeface="Bahnschrift" panose="020B0502040204020203" pitchFamily="34" charset="0"/>
            </a:endParaRPr>
          </a:p>
        </p:txBody>
      </p:sp>
    </p:spTree>
    <p:extLst>
      <p:ext uri="{BB962C8B-B14F-4D97-AF65-F5344CB8AC3E}">
        <p14:creationId xmlns:p14="http://schemas.microsoft.com/office/powerpoint/2010/main" val="7298836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58"/>
            <a:ext cx="3200400" cy="4953002"/>
          </a:xfrm>
        </p:spPr>
        <p:txBody>
          <a:bodyPr>
            <a:normAutofit/>
          </a:bodyPr>
          <a:lstStyle/>
          <a:p>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18137" y="731838"/>
            <a:ext cx="5257800" cy="5257800"/>
          </a:xfrm>
        </p:spPr>
      </p:pic>
      <p:sp>
        <p:nvSpPr>
          <p:cNvPr id="4" name="Text Placeholder 3"/>
          <p:cNvSpPr>
            <a:spLocks noGrp="1"/>
          </p:cNvSpPr>
          <p:nvPr>
            <p:ph type="body" sz="half" idx="2"/>
          </p:nvPr>
        </p:nvSpPr>
        <p:spPr>
          <a:xfrm>
            <a:off x="457200" y="594358"/>
            <a:ext cx="3200400" cy="4953002"/>
          </a:xfrm>
        </p:spPr>
        <p:txBody>
          <a:bodyPr>
            <a:normAutofit/>
          </a:bodyPr>
          <a:lstStyle/>
          <a:p>
            <a:pPr>
              <a:lnSpc>
                <a:spcPct val="150000"/>
              </a:lnSpc>
            </a:pPr>
            <a:endParaRPr lang="en-US" sz="1600" dirty="0" smtClean="0">
              <a:solidFill>
                <a:schemeClr val="tx1"/>
              </a:solidFill>
              <a:latin typeface="Bahnschrift" panose="020B0502040204020203" pitchFamily="34" charset="0"/>
            </a:endParaRPr>
          </a:p>
          <a:p>
            <a:pPr>
              <a:lnSpc>
                <a:spcPct val="150000"/>
              </a:lnSpc>
            </a:pPr>
            <a:endParaRPr lang="en-US" sz="1600" dirty="0">
              <a:solidFill>
                <a:schemeClr val="tx1"/>
              </a:solidFill>
              <a:latin typeface="Bahnschrift" panose="020B0502040204020203" pitchFamily="34" charset="0"/>
            </a:endParaRPr>
          </a:p>
          <a:p>
            <a:pPr>
              <a:lnSpc>
                <a:spcPct val="150000"/>
              </a:lnSpc>
            </a:pPr>
            <a:r>
              <a:rPr lang="en-US" sz="1600" dirty="0" smtClean="0">
                <a:solidFill>
                  <a:schemeClr val="tx1"/>
                </a:solidFill>
                <a:latin typeface="Bahnschrift" panose="020B0502040204020203" pitchFamily="34" charset="0"/>
              </a:rPr>
              <a:t>Samsung Galaxy Note 9 is the answer to your desire for a phone that can do much more. </a:t>
            </a:r>
            <a:endParaRPr lang="en-US" sz="16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24233756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bwMode="blackGray">
      <p:bgPr>
        <a:gradFill>
          <a:gsLst>
            <a:gs pos="0">
              <a:schemeClr val="accent1">
                <a:lumMod val="5000"/>
                <a:lumOff val="95000"/>
              </a:schemeClr>
            </a:gs>
            <a:gs pos="74000">
              <a:schemeClr val="accent1">
                <a:lumMod val="45000"/>
                <a:lumOff val="55000"/>
              </a:schemeClr>
            </a:gs>
            <a:gs pos="25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457200" y="594359"/>
            <a:ext cx="3200400" cy="472441"/>
          </a:xfrm>
        </p:spPr>
        <p:txBody>
          <a:bodyPr>
            <a:normAutofit/>
          </a:bodyPr>
          <a:lstStyle/>
          <a:p>
            <a:pPr algn="ctr"/>
            <a:r>
              <a:rPr lang="en-US" sz="2800" b="1" dirty="0" smtClean="0"/>
              <a:t>Box Content</a:t>
            </a:r>
            <a:endParaRPr lang="en-US" sz="2800" b="1" dirty="0"/>
          </a:p>
        </p:txBody>
      </p:sp>
      <p:sp>
        <p:nvSpPr>
          <p:cNvPr id="31" name="Content Placeholder 30"/>
          <p:cNvSpPr>
            <a:spLocks noGrp="1"/>
          </p:cNvSpPr>
          <p:nvPr>
            <p:ph idx="1"/>
          </p:nvPr>
        </p:nvSpPr>
        <p:spPr/>
        <p:txBody>
          <a:bodyPr/>
          <a:lstStyle/>
          <a:p>
            <a:endParaRPr lang="en-US" dirty="0"/>
          </a:p>
        </p:txBody>
      </p:sp>
      <p:sp>
        <p:nvSpPr>
          <p:cNvPr id="32" name="Text Placeholder 31"/>
          <p:cNvSpPr>
            <a:spLocks noGrp="1"/>
          </p:cNvSpPr>
          <p:nvPr>
            <p:ph type="body" sz="half" idx="2"/>
          </p:nvPr>
        </p:nvSpPr>
        <p:spPr>
          <a:xfrm>
            <a:off x="457200" y="1325880"/>
            <a:ext cx="3200400" cy="4979324"/>
          </a:xfrm>
        </p:spPr>
        <p:txBody>
          <a:bodyPr>
            <a:normAutofit/>
          </a:bodyPr>
          <a:lstStyle/>
          <a:p>
            <a:pPr marL="342900" indent="-342900">
              <a:buAutoNum type="arabicPeriod"/>
            </a:pPr>
            <a:r>
              <a:rPr lang="en-US" dirty="0" smtClean="0">
                <a:solidFill>
                  <a:schemeClr val="tx1"/>
                </a:solidFill>
                <a:latin typeface="Bahnschrift" panose="020B0502040204020203" pitchFamily="34" charset="0"/>
              </a:rPr>
              <a:t>Phone</a:t>
            </a:r>
          </a:p>
          <a:p>
            <a:pPr marL="342900" indent="-342900">
              <a:buAutoNum type="arabicPeriod"/>
            </a:pPr>
            <a:r>
              <a:rPr lang="en-US" dirty="0" smtClean="0">
                <a:solidFill>
                  <a:schemeClr val="tx1"/>
                </a:solidFill>
                <a:latin typeface="Bahnschrift" panose="020B0502040204020203" pitchFamily="34" charset="0"/>
              </a:rPr>
              <a:t>USB Charger</a:t>
            </a:r>
          </a:p>
          <a:p>
            <a:pPr marL="342900" indent="-342900">
              <a:buAutoNum type="arabicPeriod"/>
            </a:pPr>
            <a:r>
              <a:rPr lang="en-US" dirty="0" smtClean="0">
                <a:solidFill>
                  <a:schemeClr val="tx1"/>
                </a:solidFill>
                <a:latin typeface="Bahnschrift" panose="020B0502040204020203" pitchFamily="34" charset="0"/>
              </a:rPr>
              <a:t>Ear phone</a:t>
            </a:r>
          </a:p>
          <a:p>
            <a:pPr marL="342900" indent="-342900">
              <a:buAutoNum type="arabicPeriod"/>
            </a:pPr>
            <a:r>
              <a:rPr lang="en-US" dirty="0" smtClean="0">
                <a:solidFill>
                  <a:schemeClr val="tx1"/>
                </a:solidFill>
                <a:latin typeface="Bahnschrift" panose="020B0502040204020203" pitchFamily="34" charset="0"/>
              </a:rPr>
              <a:t>Ear tips (big and small)</a:t>
            </a:r>
          </a:p>
          <a:p>
            <a:pPr marL="342900" indent="-342900">
              <a:buAutoNum type="arabicPeriod"/>
            </a:pPr>
            <a:r>
              <a:rPr lang="en-US" dirty="0" smtClean="0">
                <a:solidFill>
                  <a:schemeClr val="tx1"/>
                </a:solidFill>
                <a:latin typeface="Bahnschrift" panose="020B0502040204020203" pitchFamily="34" charset="0"/>
              </a:rPr>
              <a:t>Pen nibs</a:t>
            </a:r>
          </a:p>
          <a:p>
            <a:pPr marL="342900" indent="-342900">
              <a:buAutoNum type="arabicPeriod"/>
            </a:pPr>
            <a:r>
              <a:rPr lang="en-US" dirty="0" smtClean="0">
                <a:solidFill>
                  <a:schemeClr val="tx1"/>
                </a:solidFill>
                <a:latin typeface="Bahnschrift" panose="020B0502040204020203" pitchFamily="34" charset="0"/>
              </a:rPr>
              <a:t>USB cable</a:t>
            </a:r>
          </a:p>
          <a:p>
            <a:pPr marL="342900" indent="-342900">
              <a:buAutoNum type="arabicPeriod"/>
            </a:pPr>
            <a:r>
              <a:rPr lang="en-US" dirty="0" smtClean="0">
                <a:solidFill>
                  <a:schemeClr val="tx1"/>
                </a:solidFill>
                <a:latin typeface="Bahnschrift" panose="020B0502040204020203" pitchFamily="34" charset="0"/>
              </a:rPr>
              <a:t>Ejection pin</a:t>
            </a:r>
          </a:p>
          <a:p>
            <a:pPr marL="342900" indent="-342900">
              <a:buAutoNum type="arabicPeriod"/>
            </a:pPr>
            <a:r>
              <a:rPr lang="en-US" dirty="0" smtClean="0">
                <a:solidFill>
                  <a:schemeClr val="tx1"/>
                </a:solidFill>
                <a:latin typeface="Bahnschrift" panose="020B0502040204020203" pitchFamily="34" charset="0"/>
              </a:rPr>
              <a:t>USB micro connector</a:t>
            </a:r>
          </a:p>
          <a:p>
            <a:pPr marL="342900" indent="-342900">
              <a:buAutoNum type="arabicPeriod"/>
            </a:pPr>
            <a:r>
              <a:rPr lang="en-US" dirty="0" smtClean="0">
                <a:solidFill>
                  <a:schemeClr val="tx1"/>
                </a:solidFill>
                <a:latin typeface="Bahnschrift" panose="020B0502040204020203" pitchFamily="34" charset="0"/>
              </a:rPr>
              <a:t>USB On-The-Go</a:t>
            </a:r>
          </a:p>
          <a:p>
            <a:pPr marL="342900" indent="-342900">
              <a:buAutoNum type="arabicPeriod"/>
            </a:pPr>
            <a:r>
              <a:rPr lang="en-US" dirty="0" smtClean="0">
                <a:solidFill>
                  <a:schemeClr val="tx1"/>
                </a:solidFill>
                <a:latin typeface="Bahnschrift" panose="020B0502040204020203" pitchFamily="34" charset="0"/>
              </a:rPr>
              <a:t>Tweezers</a:t>
            </a:r>
          </a:p>
          <a:p>
            <a:pPr marL="342900" indent="-342900">
              <a:buAutoNum type="arabicPeriod"/>
            </a:pPr>
            <a:r>
              <a:rPr lang="en-US" dirty="0" smtClean="0">
                <a:solidFill>
                  <a:schemeClr val="tx1"/>
                </a:solidFill>
                <a:latin typeface="Bahnschrift" panose="020B0502040204020203" pitchFamily="34" charset="0"/>
              </a:rPr>
              <a:t>Case</a:t>
            </a:r>
          </a:p>
          <a:p>
            <a:pPr marL="342900" indent="-342900">
              <a:buAutoNum type="arabicPeriod"/>
            </a:pPr>
            <a:r>
              <a:rPr lang="en-US" dirty="0" smtClean="0">
                <a:solidFill>
                  <a:schemeClr val="tx1"/>
                </a:solidFill>
                <a:latin typeface="Bahnschrift" panose="020B0502040204020203" pitchFamily="34" charset="0"/>
              </a:rPr>
              <a:t>Quick start guide</a:t>
            </a:r>
          </a:p>
          <a:p>
            <a:pPr marL="342900" indent="-342900">
              <a:buAutoNum type="arabicPeriod"/>
            </a:pPr>
            <a:endParaRPr lang="en-US" dirty="0" smtClean="0">
              <a:solidFill>
                <a:schemeClr val="tx1"/>
              </a:solidFill>
              <a:latin typeface="Bahnschrift" panose="020B0502040204020203" pitchFamily="34" charset="0"/>
            </a:endParaRPr>
          </a:p>
          <a:p>
            <a:endParaRPr lang="en-US" dirty="0">
              <a:solidFill>
                <a:schemeClr val="tx1"/>
              </a:solidFill>
              <a:latin typeface="Bahnschrift" panose="020B0502040204020203" pitchFamily="34" charset="0"/>
            </a:endParaRP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600" y="731520"/>
            <a:ext cx="6492240" cy="5257800"/>
          </a:xfrm>
          <a:prstGeom prst="rect">
            <a:avLst/>
          </a:prstGeom>
        </p:spPr>
      </p:pic>
    </p:spTree>
    <p:extLst>
      <p:ext uri="{BB962C8B-B14F-4D97-AF65-F5344CB8AC3E}">
        <p14:creationId xmlns:p14="http://schemas.microsoft.com/office/powerpoint/2010/main" val="32501736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7533" y="788432"/>
            <a:ext cx="6416357" cy="4812268"/>
          </a:xfrm>
          <a:prstGeom prst="rect">
            <a:avLst/>
          </a:prstGeom>
        </p:spPr>
      </p:pic>
      <p:sp>
        <p:nvSpPr>
          <p:cNvPr id="5" name="TextBox 4"/>
          <p:cNvSpPr txBox="1"/>
          <p:nvPr/>
        </p:nvSpPr>
        <p:spPr>
          <a:xfrm>
            <a:off x="685800" y="788432"/>
            <a:ext cx="2501839" cy="5293757"/>
          </a:xfrm>
          <a:prstGeom prst="rect">
            <a:avLst/>
          </a:prstGeom>
          <a:noFill/>
        </p:spPr>
        <p:txBody>
          <a:bodyPr wrap="none" rtlCol="0">
            <a:spAutoFit/>
          </a:bodyPr>
          <a:lstStyle/>
          <a:p>
            <a:endParaRPr lang="en-US" dirty="0" smtClean="0"/>
          </a:p>
          <a:p>
            <a:pPr marL="342900" indent="-342900">
              <a:buAutoNum type="arabicPeriod"/>
            </a:pPr>
            <a:r>
              <a:rPr lang="en-US" sz="1400" dirty="0" smtClean="0"/>
              <a:t>Proximity light censor</a:t>
            </a:r>
          </a:p>
          <a:p>
            <a:pPr marL="342900" indent="-342900">
              <a:buAutoNum type="arabicPeriod"/>
            </a:pPr>
            <a:r>
              <a:rPr lang="en-US" sz="1400" dirty="0" smtClean="0"/>
              <a:t>Iris recognition led</a:t>
            </a:r>
            <a:endParaRPr lang="en-US" sz="1400" dirty="0"/>
          </a:p>
          <a:p>
            <a:pPr marL="342900" indent="-342900">
              <a:buAutoNum type="arabicPeriod"/>
            </a:pPr>
            <a:r>
              <a:rPr lang="en-US" sz="1400" dirty="0" smtClean="0"/>
              <a:t>Led indicator</a:t>
            </a:r>
          </a:p>
          <a:p>
            <a:pPr marL="342900" indent="-342900">
              <a:buAutoNum type="arabicPeriod"/>
            </a:pPr>
            <a:r>
              <a:rPr lang="en-US" sz="1400" dirty="0" smtClean="0"/>
              <a:t>Volume key – up and down</a:t>
            </a:r>
          </a:p>
          <a:p>
            <a:pPr marL="342900" indent="-342900">
              <a:buAutoNum type="arabicPeriod"/>
            </a:pPr>
            <a:r>
              <a:rPr lang="en-US" sz="1400" dirty="0" smtClean="0"/>
              <a:t>Bixby Key</a:t>
            </a:r>
          </a:p>
          <a:p>
            <a:pPr marL="342900" indent="-342900">
              <a:buAutoNum type="arabicPeriod"/>
            </a:pPr>
            <a:r>
              <a:rPr lang="en-US" sz="1400" dirty="0" smtClean="0"/>
              <a:t>USB charger port</a:t>
            </a:r>
          </a:p>
          <a:p>
            <a:pPr marL="342900" indent="-342900">
              <a:buAutoNum type="arabicPeriod"/>
            </a:pPr>
            <a:r>
              <a:rPr lang="en-US" sz="1400" dirty="0" smtClean="0"/>
              <a:t>Speaker</a:t>
            </a:r>
          </a:p>
          <a:p>
            <a:pPr marL="342900" indent="-342900">
              <a:buAutoNum type="arabicPeriod" startAt="8"/>
            </a:pPr>
            <a:r>
              <a:rPr lang="en-US" sz="1400" dirty="0" smtClean="0"/>
              <a:t>Front camera</a:t>
            </a:r>
          </a:p>
          <a:p>
            <a:pPr marL="342900" indent="-342900">
              <a:buAutoNum type="arabicPeriod" startAt="8"/>
            </a:pPr>
            <a:r>
              <a:rPr lang="en-US" sz="1400" dirty="0" smtClean="0"/>
              <a:t>Iris scanner</a:t>
            </a:r>
          </a:p>
          <a:p>
            <a:pPr marL="342900" indent="-342900">
              <a:buAutoNum type="arabicPeriod" startAt="8"/>
            </a:pPr>
            <a:r>
              <a:rPr lang="en-US" sz="1400" dirty="0" smtClean="0"/>
              <a:t>Power key</a:t>
            </a:r>
          </a:p>
          <a:p>
            <a:pPr marL="342900" indent="-342900">
              <a:buAutoNum type="arabicPeriod" startAt="8"/>
            </a:pPr>
            <a:r>
              <a:rPr lang="en-US" sz="1400" dirty="0" smtClean="0"/>
              <a:t>S pen</a:t>
            </a:r>
          </a:p>
          <a:p>
            <a:pPr marL="342900" indent="-342900">
              <a:buAutoNum type="arabicPeriod" startAt="8"/>
            </a:pPr>
            <a:r>
              <a:rPr lang="en-US" sz="1400" dirty="0" smtClean="0"/>
              <a:t>SIM and Memory card tray</a:t>
            </a:r>
          </a:p>
          <a:p>
            <a:pPr marL="342900" indent="-342900">
              <a:buAutoNum type="arabicPeriod" startAt="8"/>
            </a:pPr>
            <a:r>
              <a:rPr lang="en-US" sz="1400" dirty="0" smtClean="0"/>
              <a:t>Heart rate censor</a:t>
            </a:r>
          </a:p>
          <a:p>
            <a:pPr marL="342900" indent="-342900">
              <a:buAutoNum type="arabicPeriod" startAt="8"/>
            </a:pPr>
            <a:r>
              <a:rPr lang="en-US" sz="1400" dirty="0" smtClean="0"/>
              <a:t>Flash light</a:t>
            </a:r>
          </a:p>
          <a:p>
            <a:pPr marL="342900" indent="-342900">
              <a:buAutoNum type="arabicPeriod" startAt="8"/>
            </a:pPr>
            <a:r>
              <a:rPr lang="en-US" sz="1400" dirty="0" smtClean="0"/>
              <a:t>Dual back camera</a:t>
            </a:r>
          </a:p>
          <a:p>
            <a:pPr marL="342900" indent="-342900">
              <a:buAutoNum type="arabicPeriod" startAt="8"/>
            </a:pPr>
            <a:r>
              <a:rPr lang="en-US" sz="1400" dirty="0" smtClean="0"/>
              <a:t>Finger print scanner</a:t>
            </a:r>
          </a:p>
          <a:p>
            <a:pPr marL="342900" indent="-342900">
              <a:buAutoNum type="arabicPeriod" startAt="8"/>
            </a:pPr>
            <a:r>
              <a:rPr lang="en-US" sz="1400" dirty="0" smtClean="0"/>
              <a:t>Ear phone port</a:t>
            </a:r>
          </a:p>
          <a:p>
            <a:pPr marL="342900" indent="-342900">
              <a:buAutoNum type="arabicPeriod" startAt="8"/>
            </a:pPr>
            <a:r>
              <a:rPr lang="en-US" sz="1400" dirty="0" smtClean="0"/>
              <a:t>Speaker</a:t>
            </a:r>
          </a:p>
          <a:p>
            <a:pPr marL="342900" indent="-342900">
              <a:buAutoNum type="arabicPeriod" startAt="8"/>
            </a:pPr>
            <a:r>
              <a:rPr lang="en-US" sz="1400" dirty="0" smtClean="0"/>
              <a:t>Microphone</a:t>
            </a:r>
          </a:p>
          <a:p>
            <a:endParaRPr lang="en-US" dirty="0" smtClean="0"/>
          </a:p>
          <a:p>
            <a:endParaRPr lang="en-US" dirty="0" smtClean="0"/>
          </a:p>
          <a:p>
            <a:pPr marL="342900" indent="-342900">
              <a:buAutoNum type="arabicPeriod"/>
            </a:pPr>
            <a:endParaRPr lang="en-US" dirty="0"/>
          </a:p>
        </p:txBody>
      </p:sp>
      <p:sp>
        <p:nvSpPr>
          <p:cNvPr id="6" name="TextBox 5"/>
          <p:cNvSpPr txBox="1"/>
          <p:nvPr/>
        </p:nvSpPr>
        <p:spPr>
          <a:xfrm rot="10800000" flipV="1">
            <a:off x="4735830" y="190351"/>
            <a:ext cx="3429000" cy="400110"/>
          </a:xfrm>
          <a:prstGeom prst="rect">
            <a:avLst/>
          </a:prstGeom>
          <a:noFill/>
        </p:spPr>
        <p:txBody>
          <a:bodyPr wrap="square" rtlCol="0">
            <a:spAutoFit/>
          </a:bodyPr>
          <a:lstStyle/>
          <a:p>
            <a:r>
              <a:rPr lang="en-US" sz="2000" b="1" dirty="0" smtClean="0">
                <a:latin typeface="Bahnschrift" panose="020B0502040204020203" pitchFamily="34" charset="0"/>
              </a:rPr>
              <a:t>Phone Layout</a:t>
            </a:r>
            <a:endParaRPr lang="en-US" sz="2000" b="1" dirty="0">
              <a:latin typeface="Bahnschrift" panose="020B0502040204020203" pitchFamily="34" charset="0"/>
            </a:endParaRPr>
          </a:p>
        </p:txBody>
      </p:sp>
    </p:spTree>
    <p:extLst>
      <p:ext uri="{BB962C8B-B14F-4D97-AF65-F5344CB8AC3E}">
        <p14:creationId xmlns:p14="http://schemas.microsoft.com/office/powerpoint/2010/main" val="20497102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2584" y="842751"/>
            <a:ext cx="1914207" cy="956842"/>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184" y="447349"/>
            <a:ext cx="1929856" cy="1259704"/>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39747" y="406879"/>
            <a:ext cx="1605077" cy="1300174"/>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6632" y="2998844"/>
            <a:ext cx="5653653" cy="2152761"/>
          </a:xfrm>
          <a:prstGeom prst="rect">
            <a:avLst/>
          </a:prstGeom>
        </p:spPr>
      </p:pic>
      <p:sp>
        <p:nvSpPr>
          <p:cNvPr id="6" name="TextBox 5"/>
          <p:cNvSpPr txBox="1"/>
          <p:nvPr/>
        </p:nvSpPr>
        <p:spPr>
          <a:xfrm>
            <a:off x="4027967" y="-67580"/>
            <a:ext cx="5177482" cy="369332"/>
          </a:xfrm>
          <a:prstGeom prst="rect">
            <a:avLst/>
          </a:prstGeom>
          <a:noFill/>
        </p:spPr>
        <p:txBody>
          <a:bodyPr wrap="square" rtlCol="0">
            <a:spAutoFit/>
          </a:bodyPr>
          <a:lstStyle/>
          <a:p>
            <a:r>
              <a:rPr lang="en-US" b="1" dirty="0" smtClean="0"/>
              <a:t>How to Insert SIM and Memory Card</a:t>
            </a:r>
            <a:endParaRPr lang="en-US" b="1" dirty="0"/>
          </a:p>
        </p:txBody>
      </p:sp>
      <p:cxnSp>
        <p:nvCxnSpPr>
          <p:cNvPr id="12" name="Straight Arrow Connector 11"/>
          <p:cNvCxnSpPr/>
          <p:nvPr/>
        </p:nvCxnSpPr>
        <p:spPr>
          <a:xfrm flipH="1">
            <a:off x="1549610" y="1203843"/>
            <a:ext cx="437290" cy="993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2098111" y="777176"/>
            <a:ext cx="521518" cy="157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365931" y="728312"/>
            <a:ext cx="924555" cy="369332"/>
          </a:xfrm>
          <a:prstGeom prst="rect">
            <a:avLst/>
          </a:prstGeom>
          <a:noFill/>
        </p:spPr>
        <p:txBody>
          <a:bodyPr wrap="square" rtlCol="0">
            <a:spAutoFit/>
          </a:bodyPr>
          <a:lstStyle/>
          <a:p>
            <a:endParaRPr lang="en-US" dirty="0">
              <a:latin typeface="Bahnschrift Light" panose="020B0502040204020203" pitchFamily="34" charset="0"/>
            </a:endParaRPr>
          </a:p>
        </p:txBody>
      </p:sp>
      <p:sp>
        <p:nvSpPr>
          <p:cNvPr id="28" name="TextBox 27"/>
          <p:cNvSpPr txBox="1"/>
          <p:nvPr/>
        </p:nvSpPr>
        <p:spPr>
          <a:xfrm>
            <a:off x="2606040" y="682000"/>
            <a:ext cx="1421927" cy="276999"/>
          </a:xfrm>
          <a:prstGeom prst="rect">
            <a:avLst/>
          </a:prstGeom>
          <a:noFill/>
        </p:spPr>
        <p:txBody>
          <a:bodyPr wrap="square" rtlCol="0">
            <a:spAutoFit/>
          </a:bodyPr>
          <a:lstStyle/>
          <a:p>
            <a:r>
              <a:rPr lang="en-US" sz="1200" b="1" dirty="0" smtClean="0">
                <a:latin typeface="Bahnschrift Light" panose="020B0502040204020203" pitchFamily="34" charset="0"/>
              </a:rPr>
              <a:t>Nano SIM Card </a:t>
            </a:r>
            <a:endParaRPr lang="en-US" sz="1200" b="1" dirty="0">
              <a:latin typeface="Bahnschrift Light" panose="020B0502040204020203" pitchFamily="34" charset="0"/>
            </a:endParaRPr>
          </a:p>
        </p:txBody>
      </p:sp>
      <p:sp>
        <p:nvSpPr>
          <p:cNvPr id="31" name="TextBox 30"/>
          <p:cNvSpPr txBox="1"/>
          <p:nvPr/>
        </p:nvSpPr>
        <p:spPr>
          <a:xfrm>
            <a:off x="1968394" y="1044173"/>
            <a:ext cx="1264167" cy="276999"/>
          </a:xfrm>
          <a:prstGeom prst="rect">
            <a:avLst/>
          </a:prstGeom>
          <a:noFill/>
        </p:spPr>
        <p:txBody>
          <a:bodyPr wrap="square" rtlCol="0">
            <a:spAutoFit/>
          </a:bodyPr>
          <a:lstStyle/>
          <a:p>
            <a:r>
              <a:rPr lang="en-US" sz="1200" b="1" dirty="0" smtClean="0"/>
              <a:t>Memory card</a:t>
            </a:r>
            <a:endParaRPr lang="en-US" sz="1200" b="1" dirty="0"/>
          </a:p>
        </p:txBody>
      </p:sp>
      <p:sp>
        <p:nvSpPr>
          <p:cNvPr id="32" name="TextBox 31"/>
          <p:cNvSpPr txBox="1"/>
          <p:nvPr/>
        </p:nvSpPr>
        <p:spPr>
          <a:xfrm>
            <a:off x="0" y="1914797"/>
            <a:ext cx="4485503" cy="738664"/>
          </a:xfrm>
          <a:prstGeom prst="rect">
            <a:avLst/>
          </a:prstGeom>
          <a:noFill/>
        </p:spPr>
        <p:txBody>
          <a:bodyPr wrap="square" rtlCol="0">
            <a:spAutoFit/>
          </a:bodyPr>
          <a:lstStyle/>
          <a:p>
            <a:r>
              <a:rPr lang="en-US" sz="1400" dirty="0" smtClean="0"/>
              <a:t>This tray </a:t>
            </a:r>
            <a:r>
              <a:rPr lang="en-US" sz="1400" dirty="0"/>
              <a:t>holds the SIM and memory card </a:t>
            </a:r>
            <a:r>
              <a:rPr lang="en-US" sz="1400" dirty="0" smtClean="0"/>
              <a:t>. Only Nano SIM card can be inserted into the tray. The tray holds both </a:t>
            </a:r>
            <a:r>
              <a:rPr lang="en-US" sz="1400" dirty="0"/>
              <a:t>N</a:t>
            </a:r>
            <a:r>
              <a:rPr lang="en-US" sz="1400" dirty="0" smtClean="0"/>
              <a:t>ano SIM and memory card.</a:t>
            </a:r>
            <a:endParaRPr lang="en-US" sz="1400" dirty="0"/>
          </a:p>
        </p:txBody>
      </p:sp>
      <p:sp>
        <p:nvSpPr>
          <p:cNvPr id="33" name="TextBox 32"/>
          <p:cNvSpPr txBox="1"/>
          <p:nvPr/>
        </p:nvSpPr>
        <p:spPr>
          <a:xfrm>
            <a:off x="6734432" y="1902755"/>
            <a:ext cx="4460789" cy="738664"/>
          </a:xfrm>
          <a:prstGeom prst="rect">
            <a:avLst/>
          </a:prstGeom>
          <a:noFill/>
        </p:spPr>
        <p:txBody>
          <a:bodyPr wrap="square" rtlCol="0">
            <a:spAutoFit/>
          </a:bodyPr>
          <a:lstStyle/>
          <a:p>
            <a:r>
              <a:rPr lang="en-US" sz="1400" dirty="0" smtClean="0"/>
              <a:t>To insert SIM and memory card, draw out tray with the ejection pin. To do this, insert the ejection pin into the pin hole, doing so, the tray pops out.</a:t>
            </a:r>
            <a:endParaRPr lang="en-US" sz="1400" dirty="0"/>
          </a:p>
        </p:txBody>
      </p:sp>
      <p:cxnSp>
        <p:nvCxnSpPr>
          <p:cNvPr id="35" name="Straight Arrow Connector 34"/>
          <p:cNvCxnSpPr>
            <a:stCxn id="41" idx="1"/>
          </p:cNvCxnSpPr>
          <p:nvPr/>
        </p:nvCxnSpPr>
        <p:spPr>
          <a:xfrm flipH="1" flipV="1">
            <a:off x="8081319" y="1579070"/>
            <a:ext cx="446843" cy="8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7290486" y="1233915"/>
            <a:ext cx="557951" cy="69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873552" y="1097644"/>
            <a:ext cx="802787" cy="276999"/>
          </a:xfrm>
          <a:prstGeom prst="rect">
            <a:avLst/>
          </a:prstGeom>
          <a:noFill/>
        </p:spPr>
        <p:txBody>
          <a:bodyPr wrap="square" rtlCol="0">
            <a:spAutoFit/>
          </a:bodyPr>
          <a:lstStyle/>
          <a:p>
            <a:r>
              <a:rPr lang="en-US" sz="1200" b="1" dirty="0" smtClean="0"/>
              <a:t>Pin hole</a:t>
            </a:r>
            <a:endParaRPr lang="en-US" sz="1200" b="1" dirty="0"/>
          </a:p>
        </p:txBody>
      </p:sp>
      <p:sp>
        <p:nvSpPr>
          <p:cNvPr id="41" name="TextBox 40"/>
          <p:cNvSpPr txBox="1"/>
          <p:nvPr/>
        </p:nvSpPr>
        <p:spPr>
          <a:xfrm>
            <a:off x="8528162" y="1448618"/>
            <a:ext cx="1419477" cy="276999"/>
          </a:xfrm>
          <a:prstGeom prst="rect">
            <a:avLst/>
          </a:prstGeom>
          <a:noFill/>
        </p:spPr>
        <p:txBody>
          <a:bodyPr wrap="square" rtlCol="0">
            <a:spAutoFit/>
          </a:bodyPr>
          <a:lstStyle/>
          <a:p>
            <a:r>
              <a:rPr lang="en-US" sz="1200" b="1" dirty="0" smtClean="0"/>
              <a:t>Ejection Pin</a:t>
            </a:r>
            <a:endParaRPr lang="en-US" sz="1200" b="1" dirty="0"/>
          </a:p>
        </p:txBody>
      </p:sp>
      <p:sp>
        <p:nvSpPr>
          <p:cNvPr id="48" name="TextBox 47"/>
          <p:cNvSpPr txBox="1"/>
          <p:nvPr/>
        </p:nvSpPr>
        <p:spPr>
          <a:xfrm flipH="1">
            <a:off x="676183" y="5425454"/>
            <a:ext cx="10519037" cy="738664"/>
          </a:xfrm>
          <a:prstGeom prst="rect">
            <a:avLst/>
          </a:prstGeom>
          <a:noFill/>
        </p:spPr>
        <p:txBody>
          <a:bodyPr wrap="square" rtlCol="0">
            <a:spAutoFit/>
          </a:bodyPr>
          <a:lstStyle/>
          <a:p>
            <a:r>
              <a:rPr lang="en-US" sz="1400" dirty="0" smtClean="0"/>
              <a:t>Place SIM on the small space on the tray and memory card on the big space. Then gently  insert tray back into its slot.</a:t>
            </a:r>
          </a:p>
          <a:p>
            <a:r>
              <a:rPr lang="en-US" sz="1400" dirty="0" smtClean="0"/>
              <a:t>Make sure the cards are well fitted into the specified space to avoid them from falling off or shifting from the tray. Before inserting tray, make sure the edge of the tray is well aligned with the hole. The tray can only take a SIM Card. Do not insert broom stick into the pin hole</a:t>
            </a:r>
            <a:r>
              <a:rPr lang="en-US" sz="1200" dirty="0" smtClean="0"/>
              <a:t>.</a:t>
            </a:r>
            <a:endParaRPr lang="en-US" sz="1200" dirty="0"/>
          </a:p>
        </p:txBody>
      </p:sp>
      <p:pic>
        <p:nvPicPr>
          <p:cNvPr id="49" name="Picture 4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19687" y="3218022"/>
            <a:ext cx="3339346" cy="1480202"/>
          </a:xfrm>
          <a:prstGeom prst="rect">
            <a:avLst/>
          </a:prstGeom>
        </p:spPr>
      </p:pic>
      <p:cxnSp>
        <p:nvCxnSpPr>
          <p:cNvPr id="55" name="Straight Arrow Connector 54"/>
          <p:cNvCxnSpPr/>
          <p:nvPr/>
        </p:nvCxnSpPr>
        <p:spPr>
          <a:xfrm flipH="1">
            <a:off x="9753601" y="3718560"/>
            <a:ext cx="1203959" cy="1066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flipH="1">
            <a:off x="10957560" y="3533894"/>
            <a:ext cx="587264" cy="276999"/>
          </a:xfrm>
          <a:prstGeom prst="rect">
            <a:avLst/>
          </a:prstGeom>
          <a:noFill/>
        </p:spPr>
        <p:txBody>
          <a:bodyPr wrap="square" rtlCol="0">
            <a:spAutoFit/>
          </a:bodyPr>
          <a:lstStyle/>
          <a:p>
            <a:r>
              <a:rPr lang="en-US" sz="1200" b="1" dirty="0" smtClean="0"/>
              <a:t>Tray</a:t>
            </a:r>
            <a:endParaRPr lang="en-US" sz="1200" b="1" dirty="0"/>
          </a:p>
        </p:txBody>
      </p:sp>
    </p:spTree>
    <p:extLst>
      <p:ext uri="{BB962C8B-B14F-4D97-AF65-F5344CB8AC3E}">
        <p14:creationId xmlns:p14="http://schemas.microsoft.com/office/powerpoint/2010/main" val="42912182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060" y="612486"/>
            <a:ext cx="1751648" cy="1719263"/>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8417" y="612486"/>
            <a:ext cx="2220278" cy="1719263"/>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2087" y="698330"/>
            <a:ext cx="2225040" cy="1580764"/>
          </a:xfrm>
          <a:prstGeom prst="rect">
            <a:avLst/>
          </a:prstGeom>
        </p:spPr>
      </p:pic>
      <p:sp>
        <p:nvSpPr>
          <p:cNvPr id="10" name="TextBox 9"/>
          <p:cNvSpPr txBox="1"/>
          <p:nvPr/>
        </p:nvSpPr>
        <p:spPr>
          <a:xfrm>
            <a:off x="5033239" y="121442"/>
            <a:ext cx="4754880" cy="369332"/>
          </a:xfrm>
          <a:prstGeom prst="rect">
            <a:avLst/>
          </a:prstGeom>
          <a:noFill/>
        </p:spPr>
        <p:txBody>
          <a:bodyPr wrap="square" rtlCol="0">
            <a:spAutoFit/>
          </a:bodyPr>
          <a:lstStyle/>
          <a:p>
            <a:r>
              <a:rPr lang="en-US" b="1" dirty="0" smtClean="0"/>
              <a:t>How to Use the S Pen</a:t>
            </a:r>
            <a:endParaRPr lang="en-US" b="1" dirty="0"/>
          </a:p>
        </p:txBody>
      </p: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88119" y="698331"/>
            <a:ext cx="2019777" cy="1580763"/>
          </a:xfrm>
          <a:prstGeom prst="rect">
            <a:avLst/>
          </a:prstGeom>
        </p:spPr>
      </p:pic>
      <p:cxnSp>
        <p:nvCxnSpPr>
          <p:cNvPr id="13" name="Straight Arrow Connector 12"/>
          <p:cNvCxnSpPr/>
          <p:nvPr/>
        </p:nvCxnSpPr>
        <p:spPr>
          <a:xfrm flipH="1">
            <a:off x="2133599" y="997386"/>
            <a:ext cx="609600" cy="16085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5" name="TextBox 14"/>
          <p:cNvSpPr txBox="1"/>
          <p:nvPr/>
        </p:nvSpPr>
        <p:spPr>
          <a:xfrm flipH="1">
            <a:off x="2752602" y="850759"/>
            <a:ext cx="1493521" cy="276999"/>
          </a:xfrm>
          <a:prstGeom prst="rect">
            <a:avLst/>
          </a:prstGeom>
          <a:noFill/>
        </p:spPr>
        <p:txBody>
          <a:bodyPr wrap="square" rtlCol="0">
            <a:spAutoFit/>
          </a:bodyPr>
          <a:lstStyle/>
          <a:p>
            <a:r>
              <a:rPr lang="en-US" sz="1200" b="1" dirty="0" smtClean="0"/>
              <a:t>S Pen</a:t>
            </a:r>
            <a:endParaRPr lang="en-US" sz="1200" b="1" dirty="0"/>
          </a:p>
        </p:txBody>
      </p:sp>
      <p:sp>
        <p:nvSpPr>
          <p:cNvPr id="16" name="TextBox 15"/>
          <p:cNvSpPr txBox="1"/>
          <p:nvPr/>
        </p:nvSpPr>
        <p:spPr>
          <a:xfrm>
            <a:off x="668060" y="2470248"/>
            <a:ext cx="1751648" cy="276999"/>
          </a:xfrm>
          <a:prstGeom prst="rect">
            <a:avLst/>
          </a:prstGeom>
          <a:noFill/>
        </p:spPr>
        <p:txBody>
          <a:bodyPr wrap="square" rtlCol="0">
            <a:spAutoFit/>
          </a:bodyPr>
          <a:lstStyle/>
          <a:p>
            <a:r>
              <a:rPr lang="en-US" sz="1200" b="1" dirty="0" smtClean="0"/>
              <a:t>Gently push S Pen</a:t>
            </a:r>
            <a:endParaRPr lang="en-US" sz="1200" b="1" dirty="0"/>
          </a:p>
        </p:txBody>
      </p:sp>
      <p:sp>
        <p:nvSpPr>
          <p:cNvPr id="19" name="TextBox 18"/>
          <p:cNvSpPr txBox="1"/>
          <p:nvPr/>
        </p:nvSpPr>
        <p:spPr>
          <a:xfrm>
            <a:off x="3646996" y="2470248"/>
            <a:ext cx="2103120" cy="276999"/>
          </a:xfrm>
          <a:prstGeom prst="rect">
            <a:avLst/>
          </a:prstGeom>
          <a:noFill/>
        </p:spPr>
        <p:txBody>
          <a:bodyPr wrap="square" rtlCol="0">
            <a:spAutoFit/>
          </a:bodyPr>
          <a:lstStyle/>
          <a:p>
            <a:r>
              <a:rPr lang="en-US" sz="1200" b="1" dirty="0" smtClean="0"/>
              <a:t>S Pen pops out  after push</a:t>
            </a:r>
            <a:endParaRPr lang="en-US" sz="1200" b="1" dirty="0"/>
          </a:p>
        </p:txBody>
      </p:sp>
      <p:sp>
        <p:nvSpPr>
          <p:cNvPr id="20" name="TextBox 19"/>
          <p:cNvSpPr txBox="1"/>
          <p:nvPr/>
        </p:nvSpPr>
        <p:spPr>
          <a:xfrm>
            <a:off x="7299960" y="2379492"/>
            <a:ext cx="1874520" cy="276999"/>
          </a:xfrm>
          <a:prstGeom prst="rect">
            <a:avLst/>
          </a:prstGeom>
          <a:noFill/>
        </p:spPr>
        <p:txBody>
          <a:bodyPr wrap="square" rtlCol="0">
            <a:spAutoFit/>
          </a:bodyPr>
          <a:lstStyle/>
          <a:p>
            <a:r>
              <a:rPr lang="en-US" sz="1200" b="1" dirty="0" smtClean="0"/>
              <a:t>Draw out pen</a:t>
            </a:r>
            <a:endParaRPr lang="en-US" sz="1200" b="1" dirty="0"/>
          </a:p>
        </p:txBody>
      </p:sp>
      <p:sp>
        <p:nvSpPr>
          <p:cNvPr id="21" name="TextBox 20"/>
          <p:cNvSpPr txBox="1"/>
          <p:nvPr/>
        </p:nvSpPr>
        <p:spPr>
          <a:xfrm>
            <a:off x="10458679" y="2457715"/>
            <a:ext cx="1840001" cy="276999"/>
          </a:xfrm>
          <a:prstGeom prst="rect">
            <a:avLst/>
          </a:prstGeom>
          <a:noFill/>
        </p:spPr>
        <p:txBody>
          <a:bodyPr wrap="square" rtlCol="0">
            <a:spAutoFit/>
          </a:bodyPr>
          <a:lstStyle/>
          <a:p>
            <a:r>
              <a:rPr lang="en-US" sz="1200" b="1" dirty="0" smtClean="0"/>
              <a:t>S Pen</a:t>
            </a:r>
            <a:endParaRPr lang="en-US" sz="1200" b="1" dirty="0"/>
          </a:p>
        </p:txBody>
      </p:sp>
      <p:sp>
        <p:nvSpPr>
          <p:cNvPr id="22" name="TextBox 21"/>
          <p:cNvSpPr txBox="1"/>
          <p:nvPr/>
        </p:nvSpPr>
        <p:spPr>
          <a:xfrm>
            <a:off x="213360" y="3078480"/>
            <a:ext cx="11780520" cy="3647152"/>
          </a:xfrm>
          <a:prstGeom prst="rect">
            <a:avLst/>
          </a:prstGeom>
          <a:noFill/>
        </p:spPr>
        <p:txBody>
          <a:bodyPr wrap="square" rtlCol="0">
            <a:spAutoFit/>
          </a:bodyPr>
          <a:lstStyle/>
          <a:p>
            <a:pPr>
              <a:lnSpc>
                <a:spcPct val="150000"/>
              </a:lnSpc>
            </a:pPr>
            <a:r>
              <a:rPr lang="en-US" sz="1400" dirty="0" smtClean="0"/>
              <a:t>The S Pen is at the bottom of the phone beside the speaker. Gently push the pen with your thumb and the pen pops out. Hold the pen with your fingers and draw out. To insert the pen back into the hole, gently put the tip of the pen into the hole and push in. </a:t>
            </a:r>
            <a:endParaRPr lang="en-US" sz="1400" dirty="0"/>
          </a:p>
          <a:p>
            <a:pPr>
              <a:lnSpc>
                <a:spcPct val="150000"/>
              </a:lnSpc>
            </a:pPr>
            <a:r>
              <a:rPr lang="en-US" sz="1400" dirty="0" smtClean="0"/>
              <a:t>S Pen is used has a remote control to navigate through the app and also has a writing or drawing tool. To activate , with the pen, tap on the </a:t>
            </a:r>
            <a:r>
              <a:rPr lang="en-US" sz="1400" b="1" dirty="0" smtClean="0"/>
              <a:t>Settings</a:t>
            </a:r>
            <a:r>
              <a:rPr lang="en-US" sz="1400" dirty="0" smtClean="0"/>
              <a:t> </a:t>
            </a:r>
            <a:r>
              <a:rPr lang="en-US" sz="1400" dirty="0" smtClean="0"/>
              <a:t>app, tap on </a:t>
            </a:r>
            <a:r>
              <a:rPr lang="en-US" sz="1400" b="1" dirty="0" smtClean="0"/>
              <a:t>Advanced features</a:t>
            </a:r>
            <a:r>
              <a:rPr lang="en-US" sz="1400" dirty="0" smtClean="0"/>
              <a:t>, </a:t>
            </a:r>
            <a:r>
              <a:rPr lang="en-US" sz="1400" dirty="0" smtClean="0"/>
              <a:t>then tap </a:t>
            </a:r>
            <a:r>
              <a:rPr lang="en-US" sz="1400" b="1" dirty="0" smtClean="0"/>
              <a:t>S Pen</a:t>
            </a:r>
            <a:r>
              <a:rPr lang="en-US" sz="1400" dirty="0" smtClean="0"/>
              <a:t> </a:t>
            </a:r>
            <a:r>
              <a:rPr lang="en-US" sz="1400" dirty="0" smtClean="0"/>
              <a:t>and tap </a:t>
            </a:r>
            <a:r>
              <a:rPr lang="en-US" sz="1400" b="1" dirty="0" smtClean="0"/>
              <a:t>S </a:t>
            </a:r>
            <a:r>
              <a:rPr lang="en-US" sz="1400" b="1" dirty="0" smtClean="0"/>
              <a:t>Pen </a:t>
            </a:r>
            <a:r>
              <a:rPr lang="en-US" sz="1400" b="1" dirty="0" smtClean="0"/>
              <a:t>remote</a:t>
            </a:r>
            <a:r>
              <a:rPr lang="en-US" sz="1400" dirty="0" smtClean="0"/>
              <a:t>; </a:t>
            </a:r>
            <a:r>
              <a:rPr lang="en-US" sz="1400" dirty="0" smtClean="0"/>
              <a:t>draw switch to the right </a:t>
            </a:r>
            <a:r>
              <a:rPr lang="en-US" sz="1400" dirty="0" smtClean="0"/>
              <a:t>to </a:t>
            </a:r>
            <a:r>
              <a:rPr lang="en-US" sz="1400" b="1" dirty="0"/>
              <a:t>O</a:t>
            </a:r>
            <a:r>
              <a:rPr lang="en-US" sz="1400" b="1" dirty="0" smtClean="0"/>
              <a:t>n</a:t>
            </a:r>
            <a:r>
              <a:rPr lang="en-US" sz="1400" dirty="0" smtClean="0"/>
              <a:t>.</a:t>
            </a:r>
            <a:endParaRPr lang="en-US" sz="1400" dirty="0" smtClean="0"/>
          </a:p>
          <a:p>
            <a:pPr>
              <a:lnSpc>
                <a:spcPct val="150000"/>
              </a:lnSpc>
            </a:pPr>
            <a:r>
              <a:rPr lang="en-US" sz="1400" dirty="0" smtClean="0"/>
              <a:t>To snap a photo, press the button on the pen once ; to change from front camera to back </a:t>
            </a:r>
            <a:r>
              <a:rPr lang="en-US" sz="1400" dirty="0" smtClean="0"/>
              <a:t>camera</a:t>
            </a:r>
            <a:r>
              <a:rPr lang="en-US" sz="1400" dirty="0" smtClean="0"/>
              <a:t>, press the button twice.</a:t>
            </a:r>
          </a:p>
          <a:p>
            <a:pPr>
              <a:lnSpc>
                <a:spcPct val="150000"/>
              </a:lnSpc>
            </a:pPr>
            <a:r>
              <a:rPr lang="en-US" sz="1400" dirty="0" smtClean="0"/>
              <a:t>Press the button on the S Pen once to pause a video and music player and press twice to change to the next video or song. </a:t>
            </a:r>
            <a:endParaRPr lang="en-US" sz="1400" dirty="0"/>
          </a:p>
          <a:p>
            <a:pPr>
              <a:lnSpc>
                <a:spcPct val="150000"/>
              </a:lnSpc>
            </a:pPr>
            <a:r>
              <a:rPr lang="en-US" sz="1400" dirty="0" smtClean="0"/>
              <a:t>On the recording app, record and pause with a press of the button.</a:t>
            </a:r>
          </a:p>
          <a:p>
            <a:pPr>
              <a:lnSpc>
                <a:spcPct val="150000"/>
              </a:lnSpc>
            </a:pPr>
            <a:r>
              <a:rPr lang="en-US" sz="1400" dirty="0" smtClean="0"/>
              <a:t>During presentation, press the button once to move to the next slide, press twice to return to the previous slides.</a:t>
            </a:r>
          </a:p>
          <a:p>
            <a:pPr>
              <a:lnSpc>
                <a:spcPct val="150000"/>
              </a:lnSpc>
            </a:pPr>
            <a:r>
              <a:rPr lang="en-US" sz="1400" dirty="0" smtClean="0"/>
              <a:t>To unlock screen with S Pen, </a:t>
            </a:r>
            <a:r>
              <a:rPr lang="en-US" sz="1400" dirty="0" smtClean="0"/>
              <a:t>first set </a:t>
            </a:r>
            <a:r>
              <a:rPr lang="en-US" sz="1400" dirty="0" smtClean="0"/>
              <a:t>a preferred screen lock (pattern, pin or password), then go to settings, tap </a:t>
            </a:r>
            <a:r>
              <a:rPr lang="en-US" sz="1400" b="1" dirty="0" smtClean="0"/>
              <a:t>Advanced features</a:t>
            </a:r>
            <a:r>
              <a:rPr lang="en-US" sz="1400" dirty="0" smtClean="0"/>
              <a:t>,  </a:t>
            </a:r>
            <a:r>
              <a:rPr lang="en-US" sz="1400" dirty="0" smtClean="0"/>
              <a:t>tap </a:t>
            </a:r>
            <a:r>
              <a:rPr lang="en-US" sz="1400" b="1" dirty="0" smtClean="0"/>
              <a:t>S Pen</a:t>
            </a:r>
            <a:r>
              <a:rPr lang="en-US" sz="1400" dirty="0" smtClean="0"/>
              <a:t>, </a:t>
            </a:r>
            <a:r>
              <a:rPr lang="en-US" sz="1400" dirty="0" smtClean="0"/>
              <a:t>select </a:t>
            </a:r>
            <a:r>
              <a:rPr lang="en-US" sz="1400" b="1" dirty="0" smtClean="0"/>
              <a:t>Unlock </a:t>
            </a:r>
            <a:r>
              <a:rPr lang="en-US" sz="1400" b="1" dirty="0" smtClean="0"/>
              <a:t>with S Pen </a:t>
            </a:r>
            <a:r>
              <a:rPr lang="en-US" sz="1400" b="1" dirty="0" smtClean="0"/>
              <a:t>remote</a:t>
            </a:r>
            <a:r>
              <a:rPr lang="en-US" sz="1400" dirty="0" smtClean="0"/>
              <a:t>, </a:t>
            </a:r>
            <a:r>
              <a:rPr lang="en-US" sz="1400" dirty="0" smtClean="0"/>
              <a:t>and tap </a:t>
            </a:r>
            <a:r>
              <a:rPr lang="en-US" sz="1400" b="1" dirty="0" smtClean="0"/>
              <a:t>OK</a:t>
            </a:r>
            <a:r>
              <a:rPr lang="en-US" sz="1400" dirty="0" smtClean="0"/>
              <a:t>. </a:t>
            </a:r>
            <a:r>
              <a:rPr lang="en-US" sz="1400" dirty="0" smtClean="0"/>
              <a:t>To unlock screen, press the button on the S Pen once.</a:t>
            </a:r>
          </a:p>
          <a:p>
            <a:pPr>
              <a:lnSpc>
                <a:spcPct val="150000"/>
              </a:lnSpc>
            </a:pPr>
            <a:endParaRPr lang="en-US" sz="1400" dirty="0"/>
          </a:p>
        </p:txBody>
      </p:sp>
    </p:spTree>
    <p:extLst>
      <p:ext uri="{BB962C8B-B14F-4D97-AF65-F5344CB8AC3E}">
        <p14:creationId xmlns:p14="http://schemas.microsoft.com/office/powerpoint/2010/main" val="23898201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6880" y="1769744"/>
            <a:ext cx="1920240" cy="1185863"/>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2543" y="857726"/>
            <a:ext cx="2560320" cy="3387090"/>
          </a:xfrm>
          <a:prstGeom prst="rect">
            <a:avLst/>
          </a:prstGeom>
        </p:spPr>
      </p:pic>
      <p:sp>
        <p:nvSpPr>
          <p:cNvPr id="6" name="TextBox 5"/>
          <p:cNvSpPr txBox="1"/>
          <p:nvPr/>
        </p:nvSpPr>
        <p:spPr>
          <a:xfrm>
            <a:off x="3436620" y="48696"/>
            <a:ext cx="5623560" cy="369332"/>
          </a:xfrm>
          <a:prstGeom prst="rect">
            <a:avLst/>
          </a:prstGeom>
          <a:noFill/>
        </p:spPr>
        <p:txBody>
          <a:bodyPr wrap="square" rtlCol="0">
            <a:spAutoFit/>
          </a:bodyPr>
          <a:lstStyle/>
          <a:p>
            <a:pPr algn="ctr"/>
            <a:r>
              <a:rPr lang="en-US" b="1" dirty="0" smtClean="0"/>
              <a:t>How to Use the USB On-The-Go (OTG)Type-C</a:t>
            </a:r>
            <a:endParaRPr lang="en-US" b="1" dirty="0"/>
          </a:p>
        </p:txBody>
      </p:sp>
      <p:sp>
        <p:nvSpPr>
          <p:cNvPr id="8" name="TextBox 7"/>
          <p:cNvSpPr txBox="1"/>
          <p:nvPr/>
        </p:nvSpPr>
        <p:spPr>
          <a:xfrm>
            <a:off x="853440" y="1950720"/>
            <a:ext cx="4419600" cy="954107"/>
          </a:xfrm>
          <a:prstGeom prst="rect">
            <a:avLst/>
          </a:prstGeom>
          <a:noFill/>
        </p:spPr>
        <p:txBody>
          <a:bodyPr wrap="square" rtlCol="0">
            <a:spAutoFit/>
          </a:bodyPr>
          <a:lstStyle/>
          <a:p>
            <a:r>
              <a:rPr lang="en-US" sz="1400" dirty="0" smtClean="0"/>
              <a:t>Use USB On-The-Go (OTG) connector to transfer data from Note 9 to another device. </a:t>
            </a:r>
          </a:p>
          <a:p>
            <a:r>
              <a:rPr lang="en-US" sz="1400" dirty="0"/>
              <a:t>Insert other device’s USB cable into </a:t>
            </a:r>
            <a:r>
              <a:rPr lang="en-US" sz="1400" dirty="0" smtClean="0"/>
              <a:t> USB OTG </a:t>
            </a:r>
            <a:r>
              <a:rPr lang="en-US" sz="1400" dirty="0"/>
              <a:t>Connector  and insert the connector into the phone’s  USB  </a:t>
            </a:r>
            <a:r>
              <a:rPr lang="en-US" sz="1400" dirty="0" smtClean="0"/>
              <a:t>port.</a:t>
            </a:r>
            <a:endParaRPr lang="en-US" sz="1400" dirty="0"/>
          </a:p>
        </p:txBody>
      </p:sp>
      <p:sp>
        <p:nvSpPr>
          <p:cNvPr id="9" name="TextBox 8"/>
          <p:cNvSpPr txBox="1"/>
          <p:nvPr/>
        </p:nvSpPr>
        <p:spPr>
          <a:xfrm flipH="1">
            <a:off x="853440" y="3303864"/>
            <a:ext cx="4118611" cy="307777"/>
          </a:xfrm>
          <a:prstGeom prst="rect">
            <a:avLst/>
          </a:prstGeom>
          <a:noFill/>
        </p:spPr>
        <p:txBody>
          <a:bodyPr wrap="square" rtlCol="0">
            <a:spAutoFit/>
          </a:bodyPr>
          <a:lstStyle/>
          <a:p>
            <a:r>
              <a:rPr lang="en-US" sz="1400" dirty="0" smtClean="0"/>
              <a:t>.</a:t>
            </a:r>
            <a:endParaRPr lang="en-US" sz="1400" dirty="0"/>
          </a:p>
        </p:txBody>
      </p:sp>
      <p:sp>
        <p:nvSpPr>
          <p:cNvPr id="10" name="TextBox 9"/>
          <p:cNvSpPr txBox="1"/>
          <p:nvPr/>
        </p:nvSpPr>
        <p:spPr>
          <a:xfrm>
            <a:off x="716280" y="4754880"/>
            <a:ext cx="11064240" cy="523220"/>
          </a:xfrm>
          <a:prstGeom prst="rect">
            <a:avLst/>
          </a:prstGeom>
          <a:noFill/>
        </p:spPr>
        <p:txBody>
          <a:bodyPr wrap="square" rtlCol="0">
            <a:spAutoFit/>
          </a:bodyPr>
          <a:lstStyle/>
          <a:p>
            <a:r>
              <a:rPr lang="en-US" sz="1400" dirty="0" smtClean="0"/>
              <a:t>The USB On-The-Go Type C Connector can be used with USB-A, USB-B, USB Micro-B and other USB connectors. Connect with a USB  3.01 device for fast transfer of data up to 10 </a:t>
            </a:r>
            <a:r>
              <a:rPr lang="en-US" sz="1400" dirty="0" err="1"/>
              <a:t>g</a:t>
            </a:r>
            <a:r>
              <a:rPr lang="en-US" sz="1400" dirty="0" err="1" smtClean="0"/>
              <a:t>its</a:t>
            </a:r>
            <a:r>
              <a:rPr lang="en-US" sz="1400" dirty="0" smtClean="0"/>
              <a:t> per second. While connected to another device, Samsung Note 9 charges the connected device.</a:t>
            </a:r>
            <a:endParaRPr lang="en-US" sz="1400" dirty="0"/>
          </a:p>
        </p:txBody>
      </p:sp>
      <p:sp>
        <p:nvSpPr>
          <p:cNvPr id="11" name="TextBox 10"/>
          <p:cNvSpPr txBox="1"/>
          <p:nvPr/>
        </p:nvSpPr>
        <p:spPr>
          <a:xfrm>
            <a:off x="8708572" y="3180754"/>
            <a:ext cx="493485" cy="430887"/>
          </a:xfrm>
          <a:prstGeom prst="rect">
            <a:avLst/>
          </a:prstGeom>
          <a:solidFill>
            <a:schemeClr val="bg1"/>
          </a:solidFill>
        </p:spPr>
        <p:txBody>
          <a:bodyPr wrap="square" rtlCol="0">
            <a:spAutoFit/>
          </a:bodyPr>
          <a:lstStyle/>
          <a:p>
            <a:r>
              <a:rPr lang="en-US" sz="1100" dirty="0" smtClean="0"/>
              <a:t>USB OTG</a:t>
            </a:r>
            <a:endParaRPr lang="en-US" sz="1100" dirty="0"/>
          </a:p>
        </p:txBody>
      </p:sp>
    </p:spTree>
    <p:extLst>
      <p:ext uri="{BB962C8B-B14F-4D97-AF65-F5344CB8AC3E}">
        <p14:creationId xmlns:p14="http://schemas.microsoft.com/office/powerpoint/2010/main" val="32408690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59"/>
            <a:ext cx="3200400" cy="594361"/>
          </a:xfrm>
        </p:spPr>
        <p:txBody>
          <a:bodyPr>
            <a:normAutofit/>
          </a:bodyPr>
          <a:lstStyle/>
          <a:p>
            <a:pPr algn="ctr"/>
            <a:r>
              <a:rPr lang="en-US" sz="2400" b="1" dirty="0" smtClean="0"/>
              <a:t>Charge Battery</a:t>
            </a:r>
            <a:endParaRPr lang="en-US" sz="2400"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93290" y="2264229"/>
            <a:ext cx="3459480" cy="4593771"/>
          </a:xfrm>
        </p:spPr>
      </p:pic>
      <p:sp>
        <p:nvSpPr>
          <p:cNvPr id="4" name="Text Placeholder 3"/>
          <p:cNvSpPr>
            <a:spLocks noGrp="1"/>
          </p:cNvSpPr>
          <p:nvPr>
            <p:ph type="body" sz="half" idx="2"/>
          </p:nvPr>
        </p:nvSpPr>
        <p:spPr>
          <a:xfrm>
            <a:off x="457200" y="1417320"/>
            <a:ext cx="3200400" cy="4887884"/>
          </a:xfrm>
        </p:spPr>
        <p:txBody>
          <a:bodyPr/>
          <a:lstStyle/>
          <a:p>
            <a:r>
              <a:rPr lang="en-US" dirty="0" smtClean="0"/>
              <a:t>Samsung Galaxy Note 9 uses a Type C USB cable. The USB port is located at the bottom of the phone.</a:t>
            </a:r>
          </a:p>
          <a:p>
            <a:r>
              <a:rPr lang="en-US" dirty="0" smtClean="0"/>
              <a:t>The Micro USB Connector can be used with USB-A, USB-B, USB Micro-B and other USB connectors. To connect:</a:t>
            </a:r>
          </a:p>
          <a:p>
            <a:pPr marL="285750" indent="-285750">
              <a:buFont typeface="Arial" panose="020B0604020202020204" pitchFamily="34" charset="0"/>
              <a:buChar char="•"/>
            </a:pPr>
            <a:r>
              <a:rPr lang="en-US" dirty="0" smtClean="0"/>
              <a:t>Insert USB to micro USB connector, then insert the connector to the phone.</a:t>
            </a:r>
          </a:p>
          <a:p>
            <a:pPr marL="285750" indent="-285750">
              <a:buFont typeface="Arial" panose="020B0604020202020204" pitchFamily="34" charset="0"/>
              <a:buChar char="•"/>
            </a:pPr>
            <a:r>
              <a:rPr lang="en-US" dirty="0" smtClean="0"/>
              <a:t>Plug charger to socket to charge battery.</a:t>
            </a:r>
          </a:p>
          <a:p>
            <a:r>
              <a:rPr lang="en-US" dirty="0" smtClean="0"/>
              <a:t>USB C power delivery is about 20 volts, 5 amps and 100 watts for charging. DO not try to insert a lesser USB type into the phone’s USB port; this will damage the USB port. Reason that, the USB port is designed to suite USB Type C only, also all the USB types come in different shapes.</a:t>
            </a:r>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3801" y="0"/>
            <a:ext cx="4693920" cy="2409371"/>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43801" y="2501704"/>
            <a:ext cx="4732972" cy="1905726"/>
          </a:xfrm>
          <a:prstGeom prst="rect">
            <a:avLst/>
          </a:prstGeom>
        </p:spPr>
      </p:pic>
      <p:sp>
        <p:nvSpPr>
          <p:cNvPr id="9" name="TextBox 8"/>
          <p:cNvSpPr txBox="1"/>
          <p:nvPr/>
        </p:nvSpPr>
        <p:spPr>
          <a:xfrm>
            <a:off x="9692640" y="6305204"/>
            <a:ext cx="2545081" cy="369332"/>
          </a:xfrm>
          <a:prstGeom prst="rect">
            <a:avLst/>
          </a:prstGeom>
          <a:noFill/>
        </p:spPr>
        <p:txBody>
          <a:bodyPr wrap="square" rtlCol="0">
            <a:spAutoFit/>
          </a:bodyPr>
          <a:lstStyle/>
          <a:p>
            <a:r>
              <a:rPr lang="en-US" dirty="0" err="1" smtClean="0"/>
              <a:t>lkl</a:t>
            </a:r>
            <a:endParaRPr lang="en-US" dirty="0"/>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49515" y="4410890"/>
            <a:ext cx="4727258" cy="2447110"/>
          </a:xfrm>
          <a:prstGeom prst="rect">
            <a:avLst/>
          </a:prstGeom>
        </p:spPr>
      </p:pic>
      <p:cxnSp>
        <p:nvCxnSpPr>
          <p:cNvPr id="13" name="Straight Arrow Connector 12"/>
          <p:cNvCxnSpPr/>
          <p:nvPr/>
        </p:nvCxnSpPr>
        <p:spPr>
          <a:xfrm>
            <a:off x="9826171" y="3643086"/>
            <a:ext cx="203200" cy="318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8940800" y="3372031"/>
            <a:ext cx="210459" cy="401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flipH="1">
            <a:off x="9692639" y="3945765"/>
            <a:ext cx="1454331" cy="461665"/>
          </a:xfrm>
          <a:prstGeom prst="rect">
            <a:avLst/>
          </a:prstGeom>
          <a:noFill/>
        </p:spPr>
        <p:txBody>
          <a:bodyPr wrap="square" rtlCol="0">
            <a:spAutoFit/>
          </a:bodyPr>
          <a:lstStyle/>
          <a:p>
            <a:r>
              <a:rPr lang="en-US" sz="1200" b="1" dirty="0" smtClean="0"/>
              <a:t>Micro USB Connector Type C</a:t>
            </a:r>
            <a:endParaRPr lang="en-US" sz="1200" b="1" dirty="0"/>
          </a:p>
        </p:txBody>
      </p:sp>
      <p:sp>
        <p:nvSpPr>
          <p:cNvPr id="20" name="TextBox 19"/>
          <p:cNvSpPr txBox="1"/>
          <p:nvPr/>
        </p:nvSpPr>
        <p:spPr>
          <a:xfrm rot="19846612">
            <a:off x="8476343" y="3093302"/>
            <a:ext cx="928914" cy="276999"/>
          </a:xfrm>
          <a:prstGeom prst="rect">
            <a:avLst/>
          </a:prstGeom>
          <a:noFill/>
        </p:spPr>
        <p:txBody>
          <a:bodyPr wrap="square" rtlCol="0">
            <a:spAutoFit/>
          </a:bodyPr>
          <a:lstStyle/>
          <a:p>
            <a:r>
              <a:rPr lang="en-US" sz="1200" b="1" dirty="0" smtClean="0"/>
              <a:t>USB Type B</a:t>
            </a:r>
            <a:endParaRPr lang="en-US" sz="1200" b="1" dirty="0"/>
          </a:p>
        </p:txBody>
      </p:sp>
      <p:sp>
        <p:nvSpPr>
          <p:cNvPr id="22" name="TextBox 21"/>
          <p:cNvSpPr txBox="1"/>
          <p:nvPr/>
        </p:nvSpPr>
        <p:spPr>
          <a:xfrm>
            <a:off x="8940800" y="1788217"/>
            <a:ext cx="2714171" cy="276999"/>
          </a:xfrm>
          <a:prstGeom prst="rect">
            <a:avLst/>
          </a:prstGeom>
          <a:noFill/>
        </p:spPr>
        <p:txBody>
          <a:bodyPr wrap="square" rtlCol="0">
            <a:spAutoFit/>
          </a:bodyPr>
          <a:lstStyle/>
          <a:p>
            <a:r>
              <a:rPr lang="en-US" sz="1200" b="1" dirty="0" smtClean="0"/>
              <a:t>Phone Charger and USB Type C Cable</a:t>
            </a:r>
            <a:endParaRPr lang="en-US" sz="1200" b="1" dirty="0"/>
          </a:p>
        </p:txBody>
      </p:sp>
      <p:cxnSp>
        <p:nvCxnSpPr>
          <p:cNvPr id="24" name="Straight Arrow Connector 23"/>
          <p:cNvCxnSpPr/>
          <p:nvPr/>
        </p:nvCxnSpPr>
        <p:spPr>
          <a:xfrm>
            <a:off x="5865238" y="4886010"/>
            <a:ext cx="212857" cy="748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rot="20375155">
            <a:off x="5739769" y="5561391"/>
            <a:ext cx="1347043" cy="276999"/>
          </a:xfrm>
          <a:prstGeom prst="rect">
            <a:avLst/>
          </a:prstGeom>
          <a:noFill/>
        </p:spPr>
        <p:txBody>
          <a:bodyPr wrap="square" rtlCol="0">
            <a:spAutoFit/>
          </a:bodyPr>
          <a:lstStyle/>
          <a:p>
            <a:r>
              <a:rPr lang="en-US" sz="1200" b="1" dirty="0" smtClean="0"/>
              <a:t>USB Port</a:t>
            </a:r>
            <a:endParaRPr lang="en-US" sz="1200" b="1" dirty="0"/>
          </a:p>
        </p:txBody>
      </p:sp>
      <p:pic>
        <p:nvPicPr>
          <p:cNvPr id="27" name="Picture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84321" y="2426"/>
            <a:ext cx="3459480" cy="2329768"/>
          </a:xfrm>
          <a:prstGeom prst="rect">
            <a:avLst/>
          </a:prstGeom>
        </p:spPr>
      </p:pic>
    </p:spTree>
    <p:extLst>
      <p:ext uri="{BB962C8B-B14F-4D97-AF65-F5344CB8AC3E}">
        <p14:creationId xmlns:p14="http://schemas.microsoft.com/office/powerpoint/2010/main" val="34608334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11629" y="100089"/>
            <a:ext cx="3200400" cy="394182"/>
          </a:xfrm>
        </p:spPr>
        <p:txBody>
          <a:bodyPr>
            <a:normAutofit fontScale="90000"/>
          </a:bodyPr>
          <a:lstStyle/>
          <a:p>
            <a:pPr algn="ctr"/>
            <a:r>
              <a:rPr lang="en-US" sz="2400" b="1" dirty="0" smtClean="0"/>
              <a:t>How to Operate Phone</a:t>
            </a:r>
            <a:endParaRPr lang="en-US" sz="2400" b="1" dirty="0"/>
          </a:p>
        </p:txBody>
      </p:sp>
      <p:sp>
        <p:nvSpPr>
          <p:cNvPr id="7" name="Content Placeholder 6"/>
          <p:cNvSpPr>
            <a:spLocks noGrp="1"/>
          </p:cNvSpPr>
          <p:nvPr>
            <p:ph idx="1"/>
          </p:nvPr>
        </p:nvSpPr>
        <p:spPr>
          <a:xfrm>
            <a:off x="4151086" y="0"/>
            <a:ext cx="8316685" cy="6858000"/>
          </a:xfrm>
        </p:spPr>
        <p:txBody>
          <a:bodyPr/>
          <a:lstStyle/>
          <a:p>
            <a:endParaRPr lang="en-US" dirty="0"/>
          </a:p>
        </p:txBody>
      </p:sp>
      <p:sp>
        <p:nvSpPr>
          <p:cNvPr id="8" name="Text Placeholder 7"/>
          <p:cNvSpPr>
            <a:spLocks noGrp="1"/>
          </p:cNvSpPr>
          <p:nvPr>
            <p:ph type="body" sz="half" idx="2"/>
          </p:nvPr>
        </p:nvSpPr>
        <p:spPr>
          <a:xfrm>
            <a:off x="511629" y="590242"/>
            <a:ext cx="3200400" cy="4587240"/>
          </a:xfrm>
        </p:spPr>
        <p:txBody>
          <a:bodyPr>
            <a:normAutofit fontScale="77500" lnSpcReduction="20000"/>
          </a:bodyPr>
          <a:lstStyle/>
          <a:p>
            <a:pPr marL="342900" indent="-342900">
              <a:buFont typeface="+mj-lt"/>
              <a:buAutoNum type="arabicPeriod"/>
            </a:pPr>
            <a:r>
              <a:rPr lang="en-US" dirty="0" smtClean="0"/>
              <a:t>Recent opened apps key</a:t>
            </a:r>
          </a:p>
          <a:p>
            <a:pPr marL="342900" indent="-342900">
              <a:buFont typeface="+mj-lt"/>
              <a:buAutoNum type="arabicPeriod"/>
            </a:pPr>
            <a:r>
              <a:rPr lang="en-US" dirty="0" smtClean="0"/>
              <a:t>Home key</a:t>
            </a:r>
          </a:p>
          <a:p>
            <a:pPr marL="342900" indent="-342900">
              <a:buFont typeface="+mj-lt"/>
              <a:buAutoNum type="arabicPeriod"/>
            </a:pPr>
            <a:r>
              <a:rPr lang="en-US" dirty="0" smtClean="0"/>
              <a:t>Time Display</a:t>
            </a:r>
          </a:p>
          <a:p>
            <a:pPr marL="342900" indent="-342900">
              <a:buFont typeface="+mj-lt"/>
              <a:buAutoNum type="arabicPeriod"/>
            </a:pPr>
            <a:r>
              <a:rPr lang="en-US" dirty="0" smtClean="0"/>
              <a:t>Widget</a:t>
            </a:r>
          </a:p>
          <a:p>
            <a:pPr marL="342900" indent="-342900">
              <a:buFont typeface="+mj-lt"/>
              <a:buAutoNum type="arabicPeriod"/>
            </a:pPr>
            <a:r>
              <a:rPr lang="en-US" dirty="0" smtClean="0"/>
              <a:t>Home screen applications</a:t>
            </a:r>
          </a:p>
          <a:p>
            <a:pPr marL="342900" indent="-342900">
              <a:buFont typeface="+mj-lt"/>
              <a:buAutoNum type="arabicPeriod"/>
            </a:pPr>
            <a:r>
              <a:rPr lang="en-US" dirty="0" smtClean="0"/>
              <a:t>Back/return key</a:t>
            </a:r>
            <a:endParaRPr lang="en-US" dirty="0"/>
          </a:p>
          <a:p>
            <a:r>
              <a:rPr lang="en-US" dirty="0" smtClean="0"/>
              <a:t>To operate phone, press down the power button at the left side of the phone. </a:t>
            </a:r>
          </a:p>
          <a:p>
            <a:r>
              <a:rPr lang="en-US" dirty="0" smtClean="0"/>
              <a:t>When device is turned on, the home button appears at the bottom of the screen as a soft key, gently click for full home screen display.</a:t>
            </a:r>
          </a:p>
          <a:p>
            <a:r>
              <a:rPr lang="en-US" dirty="0" smtClean="0"/>
              <a:t>When phone screen is off, press down the home button till the phone vibrates. Immediately it vibrates, screen turns on.</a:t>
            </a:r>
          </a:p>
          <a:p>
            <a:r>
              <a:rPr lang="en-US" dirty="0" smtClean="0"/>
              <a:t>Lock and unlock screen with a press on the power key. </a:t>
            </a:r>
          </a:p>
          <a:p>
            <a:r>
              <a:rPr lang="en-US" dirty="0" smtClean="0"/>
              <a:t>To turn phone off, press down the power key till the screen shows </a:t>
            </a:r>
            <a:r>
              <a:rPr lang="en-US" b="1" dirty="0" smtClean="0"/>
              <a:t>Power off</a:t>
            </a:r>
            <a:r>
              <a:rPr lang="en-US" dirty="0" smtClean="0"/>
              <a:t>, </a:t>
            </a:r>
            <a:r>
              <a:rPr lang="en-US" b="1" dirty="0" smtClean="0"/>
              <a:t>Restart</a:t>
            </a:r>
            <a:r>
              <a:rPr lang="en-US" dirty="0" smtClean="0"/>
              <a:t> </a:t>
            </a:r>
            <a:r>
              <a:rPr lang="en-US" dirty="0" smtClean="0"/>
              <a:t>and </a:t>
            </a:r>
            <a:r>
              <a:rPr lang="en-US" b="1" dirty="0" smtClean="0"/>
              <a:t>Emergency Mode</a:t>
            </a:r>
            <a:r>
              <a:rPr lang="en-US" dirty="0" smtClean="0"/>
              <a:t>, tap </a:t>
            </a:r>
            <a:r>
              <a:rPr lang="en-US" b="1" dirty="0" smtClean="0"/>
              <a:t>Power Off</a:t>
            </a:r>
            <a:r>
              <a:rPr lang="en-US" dirty="0" smtClean="0"/>
              <a:t>. </a:t>
            </a:r>
            <a:r>
              <a:rPr lang="en-US" dirty="0" smtClean="0"/>
              <a:t>To turn on, press down the power key till the phone vibrates; the screen turns on after the vibration.</a:t>
            </a:r>
          </a:p>
          <a:p>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9467" t="2357" r="10680"/>
          <a:stretch/>
        </p:blipFill>
        <p:spPr>
          <a:xfrm>
            <a:off x="4151086" y="0"/>
            <a:ext cx="4078514" cy="6858000"/>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843" t="-1686" r="44682" b="5584"/>
          <a:stretch/>
        </p:blipFill>
        <p:spPr>
          <a:xfrm>
            <a:off x="8229600" y="-116114"/>
            <a:ext cx="3962400" cy="6974113"/>
          </a:xfrm>
          <a:prstGeom prst="rect">
            <a:avLst/>
          </a:prstGeom>
        </p:spPr>
      </p:pic>
      <p:sp>
        <p:nvSpPr>
          <p:cNvPr id="2" name="TextBox 1"/>
          <p:cNvSpPr txBox="1"/>
          <p:nvPr/>
        </p:nvSpPr>
        <p:spPr>
          <a:xfrm>
            <a:off x="511629" y="5177482"/>
            <a:ext cx="3200400" cy="677108"/>
          </a:xfrm>
          <a:prstGeom prst="rect">
            <a:avLst/>
          </a:prstGeom>
          <a:noFill/>
        </p:spPr>
        <p:txBody>
          <a:bodyPr wrap="square" rtlCol="0">
            <a:spAutoFit/>
          </a:bodyPr>
          <a:lstStyle/>
          <a:p>
            <a:r>
              <a:rPr lang="en-US" sz="1400" b="1" dirty="0" smtClean="0">
                <a:solidFill>
                  <a:schemeClr val="bg1"/>
                </a:solidFill>
              </a:rPr>
              <a:t>For more information</a:t>
            </a:r>
            <a:r>
              <a:rPr lang="en-US" sz="1400" dirty="0" smtClean="0">
                <a:solidFill>
                  <a:schemeClr val="bg1"/>
                </a:solidFill>
              </a:rPr>
              <a:t>;</a:t>
            </a:r>
          </a:p>
          <a:p>
            <a:r>
              <a:rPr lang="en-US" sz="1200" dirty="0" smtClean="0">
                <a:solidFill>
                  <a:schemeClr val="bg1"/>
                </a:solidFill>
              </a:rPr>
              <a:t>Go to </a:t>
            </a:r>
            <a:r>
              <a:rPr lang="en-US" sz="1200" b="1" dirty="0">
                <a:solidFill>
                  <a:schemeClr val="bg1"/>
                </a:solidFill>
              </a:rPr>
              <a:t>S</a:t>
            </a:r>
            <a:r>
              <a:rPr lang="en-US" sz="1200" b="1" dirty="0" smtClean="0">
                <a:solidFill>
                  <a:schemeClr val="bg1"/>
                </a:solidFill>
              </a:rPr>
              <a:t>ettings</a:t>
            </a:r>
            <a:r>
              <a:rPr lang="en-US" sz="1200" dirty="0" smtClean="0">
                <a:solidFill>
                  <a:schemeClr val="bg1"/>
                </a:solidFill>
              </a:rPr>
              <a:t> app and tap </a:t>
            </a:r>
            <a:r>
              <a:rPr lang="en-US" sz="1200" b="1" dirty="0" smtClean="0">
                <a:solidFill>
                  <a:schemeClr val="bg1"/>
                </a:solidFill>
              </a:rPr>
              <a:t>User Manual</a:t>
            </a:r>
          </a:p>
          <a:p>
            <a:r>
              <a:rPr lang="en-US" sz="1200" dirty="0" smtClean="0">
                <a:solidFill>
                  <a:schemeClr val="bg1"/>
                </a:solidFill>
              </a:rPr>
              <a:t>Visit  </a:t>
            </a:r>
            <a:r>
              <a:rPr lang="en-US" sz="1200" dirty="0" smtClean="0">
                <a:solidFill>
                  <a:schemeClr val="bg1"/>
                </a:solidFill>
                <a:hlinkClick r:id="rId4"/>
              </a:rPr>
              <a:t>www.samsung.com/hk</a:t>
            </a:r>
            <a:endParaRPr lang="en-US" sz="1200" dirty="0">
              <a:solidFill>
                <a:schemeClr val="bg1"/>
              </a:solidFill>
            </a:endParaRPr>
          </a:p>
        </p:txBody>
      </p:sp>
    </p:spTree>
    <p:extLst>
      <p:ext uri="{BB962C8B-B14F-4D97-AF65-F5344CB8AC3E}">
        <p14:creationId xmlns:p14="http://schemas.microsoft.com/office/powerpoint/2010/main" val="37320276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4294967295"/>
          </p:nvPr>
        </p:nvSpPr>
        <p:spPr>
          <a:xfrm>
            <a:off x="3626644" y="0"/>
            <a:ext cx="4938712" cy="363538"/>
          </a:xfrm>
        </p:spPr>
        <p:txBody>
          <a:bodyPr>
            <a:normAutofit lnSpcReduction="10000"/>
          </a:bodyPr>
          <a:lstStyle/>
          <a:p>
            <a:pPr marL="0" indent="0" algn="ctr">
              <a:buNone/>
            </a:pPr>
            <a:r>
              <a:rPr lang="en-US" b="1" dirty="0" smtClean="0"/>
              <a:t>CAUTION</a:t>
            </a:r>
          </a:p>
          <a:p>
            <a:pPr marL="0" indent="0" algn="ctr">
              <a:buNone/>
            </a:pPr>
            <a:endParaRPr lang="en-US" sz="1600" dirty="0"/>
          </a:p>
        </p:txBody>
      </p:sp>
      <p:sp>
        <p:nvSpPr>
          <p:cNvPr id="6" name="TextBox 5"/>
          <p:cNvSpPr txBox="1"/>
          <p:nvPr/>
        </p:nvSpPr>
        <p:spPr>
          <a:xfrm>
            <a:off x="0" y="701040"/>
            <a:ext cx="12192000" cy="4616648"/>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t>Protect phone from physical damage. </a:t>
            </a:r>
          </a:p>
          <a:p>
            <a:pPr marL="285750" indent="-285750">
              <a:buFont typeface="Arial" panose="020B0604020202020204" pitchFamily="34" charset="0"/>
              <a:buChar char="•"/>
            </a:pPr>
            <a:r>
              <a:rPr lang="en-US" sz="1400" dirty="0" smtClean="0"/>
              <a:t>Only use manufacturer approved batteries, chargers and accessory.</a:t>
            </a:r>
          </a:p>
          <a:p>
            <a:pPr marL="285750" indent="-285750">
              <a:buFont typeface="Arial" panose="020B0604020202020204" pitchFamily="34" charset="0"/>
              <a:buChar char="•"/>
            </a:pPr>
            <a:r>
              <a:rPr lang="en-US" sz="1400" dirty="0" smtClean="0"/>
              <a:t>Do not expose phone USB port and battery terminals to water and other conductive elements.</a:t>
            </a:r>
          </a:p>
          <a:p>
            <a:pPr marL="285750" indent="-285750">
              <a:buFont typeface="Arial" panose="020B0604020202020204" pitchFamily="34" charset="0"/>
              <a:buChar char="•"/>
            </a:pPr>
            <a:r>
              <a:rPr lang="en-US" sz="1400" dirty="0" smtClean="0"/>
              <a:t>Keep phone off when battery compartment is open.</a:t>
            </a:r>
          </a:p>
          <a:p>
            <a:pPr marL="285750" indent="-285750">
              <a:buFont typeface="Arial" panose="020B0604020202020204" pitchFamily="34" charset="0"/>
              <a:buChar char="•"/>
            </a:pPr>
            <a:r>
              <a:rPr lang="en-US" sz="1400" dirty="0" smtClean="0"/>
              <a:t>Use a screen guide or protective case to protect phone screen.</a:t>
            </a:r>
          </a:p>
          <a:p>
            <a:pPr marL="285750" indent="-285750">
              <a:buFont typeface="Arial" panose="020B0604020202020204" pitchFamily="34" charset="0"/>
              <a:buChar char="•"/>
            </a:pPr>
            <a:r>
              <a:rPr lang="en-US" sz="1400" dirty="0" smtClean="0"/>
              <a:t>Keep phone away from fire and hot environment.</a:t>
            </a:r>
          </a:p>
          <a:p>
            <a:pPr marL="285750" indent="-285750">
              <a:buFont typeface="Arial" panose="020B0604020202020204" pitchFamily="34" charset="0"/>
              <a:buChar char="•"/>
            </a:pPr>
            <a:r>
              <a:rPr lang="en-US" sz="1400" dirty="0" smtClean="0"/>
              <a:t>Do not expose phone screen to the sun.</a:t>
            </a:r>
          </a:p>
          <a:p>
            <a:pPr marL="285750" indent="-285750">
              <a:buFont typeface="Arial" panose="020B0604020202020204" pitchFamily="34" charset="0"/>
              <a:buChar char="•"/>
            </a:pPr>
            <a:r>
              <a:rPr lang="en-US" sz="1400" dirty="0" smtClean="0"/>
              <a:t>Unplug phone immediately after full charge.</a:t>
            </a:r>
          </a:p>
          <a:p>
            <a:pPr marL="285750" indent="-285750">
              <a:buFont typeface="Arial" panose="020B0604020202020204" pitchFamily="34" charset="0"/>
              <a:buChar char="•"/>
            </a:pPr>
            <a:r>
              <a:rPr lang="en-US" sz="1400" dirty="0" smtClean="0"/>
              <a:t>Do not point flash light into the eyes of people and animals.</a:t>
            </a:r>
          </a:p>
          <a:p>
            <a:pPr marL="285750" indent="-285750">
              <a:buFont typeface="Arial" panose="020B0604020202020204" pitchFamily="34" charset="0"/>
              <a:buChar char="•"/>
            </a:pPr>
            <a:r>
              <a:rPr lang="en-US" sz="1400" dirty="0" smtClean="0"/>
              <a:t>Keep phone and cable from children.</a:t>
            </a:r>
          </a:p>
          <a:p>
            <a:pPr marL="285750" indent="-285750">
              <a:buFont typeface="Arial" panose="020B0604020202020204" pitchFamily="34" charset="0"/>
              <a:buChar char="•"/>
            </a:pPr>
            <a:r>
              <a:rPr lang="en-US" sz="1400" dirty="0" smtClean="0"/>
              <a:t>When phone is faulty or cracked, take to Samsung Service Centre as soon and possible. Keep away from third party.</a:t>
            </a:r>
          </a:p>
          <a:p>
            <a:pPr marL="285750" indent="-285750">
              <a:buFont typeface="Arial" panose="020B0604020202020204" pitchFamily="34" charset="0"/>
              <a:buChar char="•"/>
            </a:pPr>
            <a:r>
              <a:rPr lang="en-US" sz="1400" dirty="0" smtClean="0"/>
              <a:t>Do not insert broom stick or other objects asides the ejection pin into the pin hole.</a:t>
            </a:r>
          </a:p>
          <a:p>
            <a:pPr marL="285750" indent="-285750">
              <a:buFont typeface="Arial" panose="020B0604020202020204" pitchFamily="34" charset="0"/>
              <a:buChar char="•"/>
            </a:pPr>
            <a:r>
              <a:rPr lang="en-US" sz="1400" dirty="0" smtClean="0"/>
              <a:t>Prevent use of excessive sound pressure from ear phone.</a:t>
            </a:r>
          </a:p>
          <a:p>
            <a:pPr marL="285750" indent="-285750">
              <a:buFont typeface="Arial" panose="020B0604020202020204" pitchFamily="34" charset="0"/>
              <a:buChar char="•"/>
            </a:pPr>
            <a:r>
              <a:rPr lang="en-US" sz="1400" dirty="0" smtClean="0"/>
              <a:t>Do not deep device in fresh water deeper that 1.5 m and longer than 30 minutes. Use fresh water only.</a:t>
            </a:r>
          </a:p>
          <a:p>
            <a:pPr marL="285750" indent="-285750">
              <a:buFont typeface="Arial" panose="020B0604020202020204" pitchFamily="34" charset="0"/>
              <a:buChar char="•"/>
            </a:pPr>
            <a:r>
              <a:rPr lang="en-US" sz="1400" dirty="0" smtClean="0"/>
              <a:t>Prevent device from salt water, ionized water, alcoholic beverage etc. These liquid will enter the device faster.</a:t>
            </a:r>
          </a:p>
          <a:p>
            <a:pPr marL="285750" indent="-285750">
              <a:buFont typeface="Arial" panose="020B0604020202020204" pitchFamily="34" charset="0"/>
              <a:buChar char="•"/>
            </a:pPr>
            <a:r>
              <a:rPr lang="en-US" sz="1400" dirty="0" smtClean="0"/>
              <a:t>When exposed to fresh water, dry phone thoroughly with a clean soft cloth. </a:t>
            </a:r>
            <a:r>
              <a:rPr lang="en-US" sz="1400" dirty="0"/>
              <a:t> </a:t>
            </a:r>
            <a:r>
              <a:rPr lang="en-US" sz="1400" dirty="0" smtClean="0"/>
              <a:t>If phone is exposed to other liquid, immediately rinse off with fresh water and dry thoroughly with a clean soft cloth to prevent phone from malfunctioning.</a:t>
            </a:r>
          </a:p>
          <a:p>
            <a:pPr marL="285750" indent="-285750">
              <a:buFont typeface="Arial" panose="020B0604020202020204" pitchFamily="34" charset="0"/>
              <a:buChar char="•"/>
            </a:pPr>
            <a:r>
              <a:rPr lang="en-US" sz="1400" dirty="0" smtClean="0"/>
              <a:t>Do not charge phone when it is wet.</a:t>
            </a:r>
          </a:p>
          <a:p>
            <a:pPr marL="285750" indent="-285750">
              <a:buFont typeface="Arial" panose="020B0604020202020204" pitchFamily="34" charset="0"/>
              <a:buChar char="•"/>
            </a:pPr>
            <a:r>
              <a:rPr lang="en-US" sz="1400" dirty="0" smtClean="0"/>
              <a:t>Prevent water from getting to the surrounding of the phone when charging.</a:t>
            </a:r>
          </a:p>
          <a:p>
            <a:pPr marL="285750" indent="-285750">
              <a:buFont typeface="Arial" panose="020B0604020202020204" pitchFamily="34" charset="0"/>
              <a:buChar char="•"/>
            </a:pPr>
            <a:r>
              <a:rPr lang="en-US" sz="1400" dirty="0" smtClean="0"/>
              <a:t>Do not use a damaged cable.</a:t>
            </a:r>
          </a:p>
          <a:p>
            <a:pPr marL="285750" indent="-285750">
              <a:buFont typeface="Arial" panose="020B0604020202020204" pitchFamily="34" charset="0"/>
              <a:buChar char="•"/>
            </a:pPr>
            <a:r>
              <a:rPr lang="en-US" sz="1400" dirty="0" smtClean="0"/>
              <a:t>Phone battery is explosive. Do not burn or throw into fire.</a:t>
            </a:r>
            <a:endParaRPr lang="en-US" sz="1400" dirty="0"/>
          </a:p>
        </p:txBody>
      </p:sp>
    </p:spTree>
    <p:extLst>
      <p:ext uri="{BB962C8B-B14F-4D97-AF65-F5344CB8AC3E}">
        <p14:creationId xmlns:p14="http://schemas.microsoft.com/office/powerpoint/2010/main" val="8990074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331783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911</TotalTime>
  <Words>1253</Words>
  <Application>Microsoft Office PowerPoint</Application>
  <PresentationFormat>Widescreen</PresentationFormat>
  <Paragraphs>116</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Bahnschrift</vt:lpstr>
      <vt:lpstr>Bahnschrift Light</vt:lpstr>
      <vt:lpstr>Calibri</vt:lpstr>
      <vt:lpstr>Calibri Light</vt:lpstr>
      <vt:lpstr>Retrospect</vt:lpstr>
      <vt:lpstr>USER GUIDE</vt:lpstr>
      <vt:lpstr>PowerPoint Presentation</vt:lpstr>
      <vt:lpstr>Box Content</vt:lpstr>
      <vt:lpstr>PowerPoint Presentation</vt:lpstr>
      <vt:lpstr>PowerPoint Presentation</vt:lpstr>
      <vt:lpstr>PowerPoint Presentation</vt:lpstr>
      <vt:lpstr>PowerPoint Presentation</vt:lpstr>
      <vt:lpstr>Charge Battery</vt:lpstr>
      <vt:lpstr>How to Operate Phone</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Helen</dc:creator>
  <cp:lastModifiedBy>Helen</cp:lastModifiedBy>
  <cp:revision>59</cp:revision>
  <dcterms:created xsi:type="dcterms:W3CDTF">2021-10-10T12:16:50Z</dcterms:created>
  <dcterms:modified xsi:type="dcterms:W3CDTF">2021-10-11T07:03:24Z</dcterms:modified>
</cp:coreProperties>
</file>